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Abrir con la pregunta: ¿qué significa 59,7%? Declarar independencia institucional.</a:t>
            </a:r>
          </a:p>
          <a:p>
            <a:r>
              <a:t>Fuente: https://ine.mx/wp-content/uploads/2025/06/Manual-Conteos-Censales-2009-2024.pdf (pp. 16, 17, 21 y 30 según el dato).</a:t>
            </a:r>
          </a:p>
          <a:p>
            <a:r>
              <a:t>Proyecto independiente para el Hackathon INE 2026. No es un producto oficial ni cuenta con aval del 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Distinguir la hipótesis de comprensión de cualquier impacto electoral. No hay piloto reportado.</a:t>
            </a:r>
          </a:p>
          <a:p>
            <a:r>
              <a:t>Fuente: https://ine.mx/wp-content/uploads/2025/06/Manual-Conteos-Censales-2009-2024.pdf (pp. 16, 17, 21 y 30 según el dato).</a:t>
            </a:r>
          </a:p>
          <a:p>
            <a:r>
              <a:t>Proyecto independiente para el Hackathon INE 2026. No es un producto oficial ni cuenta con aval del 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Mostrar los puntos y explicar denominador. Fuente nacional: manual p. 21.</a:t>
            </a:r>
          </a:p>
          <a:p>
            <a:r>
              <a:t>Fuente: https://ine.mx/wp-content/uploads/2025/06/Manual-Conteos-Censales-2009-2024.pdf (pp. 16, 17, 21 y 30 según el dato).</a:t>
            </a:r>
          </a:p>
          <a:p>
            <a:r>
              <a:t>Proyecto independiente para el Hackathon INE 2026. No es un producto oficial ni cuenta con aval del 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 duraciones de recorridos son pautas editoriales. Demostración manual con notas.</a:t>
            </a:r>
          </a:p>
          <a:p>
            <a:r>
              <a:t>Fuente: https://ine.mx/wp-content/uploads/2025/06/Manual-Conteos-Censales-2009-2024.pdf (pp. 16, 17, 21 y 30 según el dato).</a:t>
            </a:r>
          </a:p>
          <a:p>
            <a:r>
              <a:t>Proyecto independiente para el Hackathon INE 2026. No es un producto oficial ni cuenta con aval del 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Mostrar revelar evidencia: valor, ámbito, fuente, revisión y límites. Consultar registro de fuentes para estado de verificación.</a:t>
            </a:r>
          </a:p>
          <a:p>
            <a:r>
              <a:t>Fuente: https://ine.mx/wp-content/uploads/2025/06/Manual-Conteos-Censales-2009-2024.pdf (pp. 16, 17, 21 y 30 según el dato).</a:t>
            </a:r>
          </a:p>
          <a:p>
            <a:r>
              <a:t>Proyecto independiente para el Hackathon INE 2026. No es un producto oficial ni cuenta con aval del 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atribuir cambios a motivaciones o intervenciones. Separar tipo de elección conserva contexto.</a:t>
            </a:r>
          </a:p>
          <a:p>
            <a:r>
              <a:t>Fuente: https://ine.mx/wp-content/uploads/2025/06/Manual-Conteos-Censales-2009-2024.pdf (pp. 16, 17, 21 y 30 según el dato).</a:t>
            </a:r>
          </a:p>
          <a:p>
            <a:r>
              <a:t>Proyecto independiente para el Hackathon INE 2026. No es un producto oficial ni cuenta con aval del 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Mostrar una respuesta incorrecta y explicar por qué aprender no es solo acertar. No presentar puntuación como escala validada.</a:t>
            </a:r>
          </a:p>
          <a:p>
            <a:r>
              <a:t>Fuente: https://ine.mx/wp-content/uploads/2025/06/Manual-Conteos-Censales-2009-2024.pdf (pp. 16, 17, 21 y 30 según el dato).</a:t>
            </a:r>
          </a:p>
          <a:p>
            <a:r>
              <a:t>Proyecto independiente para el Hackathon INE 2026. No es un producto oficial ni cuenta con aval del 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control absoluto va de 0 a 100. Exportación nacional, complemento o entidad 2024. Incluir fuente dentro de la imagen.</a:t>
            </a:r>
          </a:p>
          <a:p>
            <a:r>
              <a:t>Fuente: https://ine.mx/wp-content/uploads/2025/06/Manual-Conteos-Censales-2009-2024.pdf (pp. 16, 17, 21 y 30 según el dato).</a:t>
            </a:r>
          </a:p>
          <a:p>
            <a:r>
              <a:t>Proyecto independiente para el Hackathon INE 2026. No es un producto oficial ni cuenta con aval del 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Distinguir construcción de verificación. La publicación, video final, firmas y piloto tienen controles separados. Mantener requiere responsables.</a:t>
            </a:r>
          </a:p>
          <a:p>
            <a:r>
              <a:t>Fuente: https://ine.mx/wp-content/uploads/2025/06/Manual-Conteos-Censales-2009-2024.pdf (pp. 16, 17, 21 y 30 según el dato).</a:t>
            </a:r>
          </a:p>
          <a:p>
            <a:r>
              <a:t>Proyecto independiente para el Hackathon INE 2026. No es un producto oficial ni cuenta con aval del 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Cerrar a los 2:50. No afirmar publicación, aval institucional ni impacto medido. Consultar el reporte real de pruebas.</a:t>
            </a:r>
          </a:p>
          <a:p>
            <a:r>
              <a:t>Fuente: https://ine.mx/wp-content/uploads/2025/06/Manual-Conteos-Censales-2009-2024.pdf (pp. 16, 17, 21 y 30 según el dato).</a:t>
            </a:r>
          </a:p>
          <a:p>
            <a:r>
              <a:t>Proyecto independiente para el Hackathon INE 2026. No es un producto oficial ni cuenta con aval del 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6100" y="749300"/>
            <a:ext cx="109855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D9C4FF"/>
                </a:solidFill>
                <a:latin typeface="Arial"/>
              </a:defRPr>
            </a:pPr>
            <a:r>
              <a:t>RETO 3 / STORYTELLING CON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6100" y="1524000"/>
            <a:ext cx="108585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900" b="1">
                <a:solidFill>
                  <a:srgbClr val="F9F7F2"/>
                </a:solidFill>
                <a:latin typeface="Arial"/>
              </a:defRPr>
            </a:pPr>
            <a:r>
              <a:t>100 VOCES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6100" y="3302000"/>
            <a:ext cx="10858500" cy="147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0">
                <a:solidFill>
                  <a:srgbClr val="BAF5D1"/>
                </a:solidFill>
                <a:latin typeface="Arial"/>
              </a:defRPr>
            </a:pPr>
            <a:r>
              <a:t>Así participa México.</a:t>
            </a:r>
          </a:p>
          <a:p>
            <a:pPr>
              <a:spcAft>
                <a:spcPts val="900"/>
              </a:spcAft>
              <a:defRPr sz="2800" b="0">
                <a:solidFill>
                  <a:srgbClr val="BAF5D1"/>
                </a:solidFill>
                <a:latin typeface="Arial"/>
              </a:defRPr>
            </a:pPr>
            <a:r>
              <a:t>Seis momentos para comprender un dato.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6100" y="5067300"/>
            <a:ext cx="10922000" cy="9905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00" b="0">
                <a:solidFill>
                  <a:srgbClr val="D9C4FF"/>
                </a:solidFill>
                <a:latin typeface="Arial"/>
              </a:defRPr>
            </a:pPr>
            <a:r>
              <a:t>Participación ciudadana · CCPC 2009–2024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6100" y="6108700"/>
            <a:ext cx="10922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C2C3CC"/>
                </a:solidFill>
                <a:latin typeface="Arial"/>
              </a:defRPr>
            </a:pPr>
            <a:r>
              <a:t>Fuente de datos: INE, Manual CCPC 2009–2024 · pp. 16, 17, 21 y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6100" y="6451600"/>
            <a:ext cx="101600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C2C3CC"/>
                </a:solidFill>
                <a:latin typeface="Arial"/>
              </a:defRPr>
            </a:pPr>
            <a:r>
              <a:t>Proyecto independiente · Sin aval del 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3900" y="6451600"/>
            <a:ext cx="8890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C2C3CC"/>
                </a:solidFill>
                <a:latin typeface="Arial"/>
              </a:defRPr>
            </a:pPr>
            <a:r>
              <a:t>01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6100" y="749300"/>
            <a:ext cx="109855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D9C4FF"/>
                </a:solidFill>
                <a:latin typeface="Arial"/>
              </a:defRPr>
            </a:pPr>
            <a:r>
              <a:t>01 / EL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6100" y="1524000"/>
            <a:ext cx="108585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900" b="1">
                <a:solidFill>
                  <a:srgbClr val="F9F7F2"/>
                </a:solidFill>
                <a:latin typeface="Arial"/>
              </a:defRPr>
            </a:pPr>
            <a:r>
              <a:t>Los datos necesitan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6100" y="3302000"/>
            <a:ext cx="10858500" cy="147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0">
                <a:solidFill>
                  <a:srgbClr val="BAF5D1"/>
                </a:solidFill>
                <a:latin typeface="Arial"/>
              </a:defRPr>
            </a:pPr>
            <a:r>
              <a:t>Un porcentaje aislado no explica</a:t>
            </a:r>
          </a:p>
          <a:p>
            <a:pPr>
              <a:spcAft>
                <a:spcPts val="900"/>
              </a:spcAft>
              <a:defRPr sz="2800" b="0">
                <a:solidFill>
                  <a:srgbClr val="BAF5D1"/>
                </a:solidFill>
                <a:latin typeface="Arial"/>
              </a:defRPr>
            </a:pPr>
            <a:r>
              <a:t>qué mide ni qué permite concluir.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6100" y="5067300"/>
            <a:ext cx="10922000" cy="9905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00" b="0">
                <a:solidFill>
                  <a:srgbClr val="D9C4FF"/>
                </a:solidFill>
                <a:latin typeface="Arial"/>
              </a:defRPr>
            </a:pPr>
            <a:r>
              <a:t>Público: jóvenes, aula y divulgación cívica.</a:t>
            </a:r>
          </a:p>
          <a:p>
            <a:pPr>
              <a:spcAft>
                <a:spcPts val="900"/>
              </a:spcAft>
              <a:defRPr sz="1900" b="0">
                <a:solidFill>
                  <a:srgbClr val="D9C4FF"/>
                </a:solidFill>
                <a:latin typeface="Arial"/>
              </a:defRPr>
            </a:pPr>
            <a:r>
              <a:t>Propósito: comprensión e interpretación crítica.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6100" y="6108700"/>
            <a:ext cx="10922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C2C3CC"/>
                </a:solidFill>
                <a:latin typeface="Arial"/>
              </a:defRPr>
            </a:pPr>
            <a:r>
              <a:t>Fuente de datos: INE, Manual CCPC 2009–2024 · pp. 16, 17, 21 y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6100" y="6451600"/>
            <a:ext cx="101600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C2C3CC"/>
                </a:solidFill>
                <a:latin typeface="Arial"/>
              </a:defRPr>
            </a:pPr>
            <a:r>
              <a:t>Proyecto independiente · Sin aval del 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3900" y="6451600"/>
            <a:ext cx="8890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C2C3CC"/>
                </a:solidFill>
                <a:latin typeface="Arial"/>
              </a:defRPr>
            </a:pPr>
            <a:r>
              <a:t>02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6100" y="749300"/>
            <a:ext cx="109855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D9C4FF"/>
                </a:solidFill>
                <a:latin typeface="Arial"/>
              </a:defRPr>
            </a:pPr>
            <a:r>
              <a:t>02 / LA PRIMERA ESCENA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6100" y="1524000"/>
            <a:ext cx="108585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900" b="1">
                <a:solidFill>
                  <a:srgbClr val="F9F7F2"/>
                </a:solidFill>
                <a:latin typeface="Arial"/>
              </a:defRPr>
            </a:pPr>
            <a:r>
              <a:t>Una cifra, cien puntos</a:t>
            </a:r>
          </a:p>
        </p:txBody>
      </p:sp>
      <p:sp>
        <p:nvSpPr>
          <p:cNvPr id="5" name="Oval 4"/>
          <p:cNvSpPr/>
          <p:nvPr/>
        </p:nvSpPr>
        <p:spPr>
          <a:xfrm>
            <a:off x="635000" y="3429000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3429000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93800" y="3429000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473200" y="3429000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752600" y="3429000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032000" y="3429000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311400" y="3429000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590800" y="3429000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70200" y="3429000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149600" y="3429000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429000" y="3429000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08400" y="3429000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987799" y="3429000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267200" y="3429000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546600" y="3429000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826000" y="3429000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105400" y="3429000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384800" y="3429000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664200" y="3429000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943600" y="3429000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5000" y="3708400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4400" y="3708400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93800" y="3708400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473200" y="3708400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752600" y="3708400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032000" y="3708400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311400" y="3708400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590800" y="3708400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870200" y="3708400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149600" y="3708400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429000" y="3708400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708400" y="3708400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987799" y="3708400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267200" y="3708400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546600" y="3708400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826000" y="3708400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105400" y="3708400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5384800" y="3708400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664200" y="3708400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5943600" y="3708400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35000" y="3987799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914400" y="3987799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193800" y="3987799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473200" y="3987799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752600" y="3987799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2032000" y="3987799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2311400" y="3987799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2590800" y="3987799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2870200" y="3987799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149600" y="3987799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429000" y="3987799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708400" y="3987799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3987799" y="3987799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4267200" y="3987799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546600" y="3987799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4826000" y="3987799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5105400" y="3987799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5384800" y="3987799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5664200" y="3987799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5943600" y="3987799"/>
            <a:ext cx="152400" cy="152400"/>
          </a:xfrm>
          <a:prstGeom prst="ellipse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635000" y="4267200"/>
            <a:ext cx="152400" cy="152400"/>
          </a:xfrm>
          <a:prstGeom prst="ellipse">
            <a:avLst/>
          </a:prstGeom>
          <a:solidFill>
            <a:srgbClr val="45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914400" y="4267200"/>
            <a:ext cx="152400" cy="152400"/>
          </a:xfrm>
          <a:prstGeom prst="ellipse">
            <a:avLst/>
          </a:prstGeom>
          <a:solidFill>
            <a:srgbClr val="45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193800" y="4267200"/>
            <a:ext cx="152400" cy="152400"/>
          </a:xfrm>
          <a:prstGeom prst="ellipse">
            <a:avLst/>
          </a:prstGeom>
          <a:solidFill>
            <a:srgbClr val="45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1473200" y="4267200"/>
            <a:ext cx="152400" cy="152400"/>
          </a:xfrm>
          <a:prstGeom prst="ellipse">
            <a:avLst/>
          </a:prstGeom>
          <a:solidFill>
            <a:srgbClr val="45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1752600" y="4267200"/>
            <a:ext cx="152400" cy="152400"/>
          </a:xfrm>
          <a:prstGeom prst="ellipse">
            <a:avLst/>
          </a:prstGeom>
          <a:solidFill>
            <a:srgbClr val="45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2032000" y="4267200"/>
            <a:ext cx="152400" cy="152400"/>
          </a:xfrm>
          <a:prstGeom prst="ellipse">
            <a:avLst/>
          </a:prstGeom>
          <a:solidFill>
            <a:srgbClr val="45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2311400" y="4267200"/>
            <a:ext cx="152400" cy="152400"/>
          </a:xfrm>
          <a:prstGeom prst="ellipse">
            <a:avLst/>
          </a:prstGeom>
          <a:solidFill>
            <a:srgbClr val="45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2590800" y="4267200"/>
            <a:ext cx="152400" cy="152400"/>
          </a:xfrm>
          <a:prstGeom prst="ellipse">
            <a:avLst/>
          </a:prstGeom>
          <a:solidFill>
            <a:srgbClr val="45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2870200" y="4267200"/>
            <a:ext cx="152400" cy="152400"/>
          </a:xfrm>
          <a:prstGeom prst="ellipse">
            <a:avLst/>
          </a:prstGeom>
          <a:solidFill>
            <a:srgbClr val="45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3149600" y="4267200"/>
            <a:ext cx="152400" cy="152400"/>
          </a:xfrm>
          <a:prstGeom prst="ellipse">
            <a:avLst/>
          </a:prstGeom>
          <a:solidFill>
            <a:srgbClr val="45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3429000" y="4267200"/>
            <a:ext cx="152400" cy="152400"/>
          </a:xfrm>
          <a:prstGeom prst="ellipse">
            <a:avLst/>
          </a:prstGeom>
          <a:solidFill>
            <a:srgbClr val="45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3708400" y="4267200"/>
            <a:ext cx="152400" cy="152400"/>
          </a:xfrm>
          <a:prstGeom prst="ellipse">
            <a:avLst/>
          </a:prstGeom>
          <a:solidFill>
            <a:srgbClr val="45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3987799" y="4267200"/>
            <a:ext cx="152400" cy="152400"/>
          </a:xfrm>
          <a:prstGeom prst="ellipse">
            <a:avLst/>
          </a:prstGeom>
          <a:solidFill>
            <a:srgbClr val="45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4267200" y="4267200"/>
            <a:ext cx="152400" cy="152400"/>
          </a:xfrm>
          <a:prstGeom prst="ellipse">
            <a:avLst/>
          </a:prstGeom>
          <a:solidFill>
            <a:srgbClr val="45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4546600" y="4267200"/>
            <a:ext cx="152400" cy="152400"/>
          </a:xfrm>
          <a:prstGeom prst="ellipse">
            <a:avLst/>
          </a:prstGeom>
          <a:solidFill>
            <a:srgbClr val="45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4826000" y="4267200"/>
            <a:ext cx="152400" cy="152400"/>
          </a:xfrm>
          <a:prstGeom prst="ellipse">
            <a:avLst/>
          </a:prstGeom>
          <a:solidFill>
            <a:srgbClr val="45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5105400" y="4267200"/>
            <a:ext cx="152400" cy="152400"/>
          </a:xfrm>
          <a:prstGeom prst="ellipse">
            <a:avLst/>
          </a:prstGeom>
          <a:solidFill>
            <a:srgbClr val="45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5384800" y="4267200"/>
            <a:ext cx="152400" cy="152400"/>
          </a:xfrm>
          <a:prstGeom prst="ellipse">
            <a:avLst/>
          </a:prstGeom>
          <a:solidFill>
            <a:srgbClr val="45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5664200" y="4267200"/>
            <a:ext cx="152400" cy="152400"/>
          </a:xfrm>
          <a:prstGeom prst="ellipse">
            <a:avLst/>
          </a:prstGeom>
          <a:solidFill>
            <a:srgbClr val="45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5943600" y="4267200"/>
            <a:ext cx="152400" cy="152400"/>
          </a:xfrm>
          <a:prstGeom prst="ellipse">
            <a:avLst/>
          </a:prstGeom>
          <a:solidFill>
            <a:srgbClr val="45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35000" y="4546600"/>
            <a:ext cx="152400" cy="152400"/>
          </a:xfrm>
          <a:prstGeom prst="ellipse">
            <a:avLst/>
          </a:prstGeom>
          <a:solidFill>
            <a:srgbClr val="45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914400" y="4546600"/>
            <a:ext cx="152400" cy="152400"/>
          </a:xfrm>
          <a:prstGeom prst="ellipse">
            <a:avLst/>
          </a:prstGeom>
          <a:solidFill>
            <a:srgbClr val="45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1193800" y="4546600"/>
            <a:ext cx="152400" cy="152400"/>
          </a:xfrm>
          <a:prstGeom prst="ellipse">
            <a:avLst/>
          </a:prstGeom>
          <a:solidFill>
            <a:srgbClr val="45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1473200" y="4546600"/>
            <a:ext cx="152400" cy="152400"/>
          </a:xfrm>
          <a:prstGeom prst="ellipse">
            <a:avLst/>
          </a:prstGeom>
          <a:solidFill>
            <a:srgbClr val="45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1752600" y="4546600"/>
            <a:ext cx="152400" cy="152400"/>
          </a:xfrm>
          <a:prstGeom prst="ellipse">
            <a:avLst/>
          </a:prstGeom>
          <a:solidFill>
            <a:srgbClr val="45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2032000" y="4546600"/>
            <a:ext cx="152400" cy="152400"/>
          </a:xfrm>
          <a:prstGeom prst="ellipse">
            <a:avLst/>
          </a:prstGeom>
          <a:solidFill>
            <a:srgbClr val="45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2311400" y="4546600"/>
            <a:ext cx="152400" cy="152400"/>
          </a:xfrm>
          <a:prstGeom prst="ellipse">
            <a:avLst/>
          </a:prstGeom>
          <a:solidFill>
            <a:srgbClr val="45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2590800" y="4546600"/>
            <a:ext cx="152400" cy="152400"/>
          </a:xfrm>
          <a:prstGeom prst="ellipse">
            <a:avLst/>
          </a:prstGeom>
          <a:solidFill>
            <a:srgbClr val="45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2870200" y="4546600"/>
            <a:ext cx="152400" cy="152400"/>
          </a:xfrm>
          <a:prstGeom prst="ellipse">
            <a:avLst/>
          </a:prstGeom>
          <a:solidFill>
            <a:srgbClr val="45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3149600" y="4546600"/>
            <a:ext cx="152400" cy="152400"/>
          </a:xfrm>
          <a:prstGeom prst="ellipse">
            <a:avLst/>
          </a:prstGeom>
          <a:solidFill>
            <a:srgbClr val="45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3429000" y="4546600"/>
            <a:ext cx="152400" cy="152400"/>
          </a:xfrm>
          <a:prstGeom prst="ellipse">
            <a:avLst/>
          </a:prstGeom>
          <a:solidFill>
            <a:srgbClr val="45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3708400" y="4546600"/>
            <a:ext cx="152400" cy="152400"/>
          </a:xfrm>
          <a:prstGeom prst="ellipse">
            <a:avLst/>
          </a:prstGeom>
          <a:solidFill>
            <a:srgbClr val="45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3987799" y="4546600"/>
            <a:ext cx="152400" cy="152400"/>
          </a:xfrm>
          <a:prstGeom prst="ellipse">
            <a:avLst/>
          </a:prstGeom>
          <a:solidFill>
            <a:srgbClr val="45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4267200" y="4546600"/>
            <a:ext cx="152400" cy="152400"/>
          </a:xfrm>
          <a:prstGeom prst="ellipse">
            <a:avLst/>
          </a:prstGeom>
          <a:solidFill>
            <a:srgbClr val="45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4546600" y="4546600"/>
            <a:ext cx="152400" cy="152400"/>
          </a:xfrm>
          <a:prstGeom prst="ellipse">
            <a:avLst/>
          </a:prstGeom>
          <a:solidFill>
            <a:srgbClr val="45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4826000" y="4546600"/>
            <a:ext cx="152400" cy="152400"/>
          </a:xfrm>
          <a:prstGeom prst="ellipse">
            <a:avLst/>
          </a:prstGeom>
          <a:solidFill>
            <a:srgbClr val="45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5105400" y="4546600"/>
            <a:ext cx="152400" cy="152400"/>
          </a:xfrm>
          <a:prstGeom prst="ellipse">
            <a:avLst/>
          </a:prstGeom>
          <a:solidFill>
            <a:srgbClr val="45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5384800" y="4546600"/>
            <a:ext cx="152400" cy="152400"/>
          </a:xfrm>
          <a:prstGeom prst="ellipse">
            <a:avLst/>
          </a:prstGeom>
          <a:solidFill>
            <a:srgbClr val="45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5664200" y="4546600"/>
            <a:ext cx="152400" cy="152400"/>
          </a:xfrm>
          <a:prstGeom prst="ellipse">
            <a:avLst/>
          </a:prstGeom>
          <a:solidFill>
            <a:srgbClr val="45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5943600" y="4546600"/>
            <a:ext cx="152400" cy="152400"/>
          </a:xfrm>
          <a:prstGeom prst="ellipse">
            <a:avLst/>
          </a:prstGeom>
          <a:solidFill>
            <a:srgbClr val="45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540500" y="3505200"/>
            <a:ext cx="4889500" cy="1079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100" b="0">
                <a:solidFill>
                  <a:srgbClr val="BAF5D1"/>
                </a:solidFill>
                <a:latin typeface="Arial"/>
              </a:defRPr>
            </a:pPr>
            <a:r>
              <a:t>59,7%</a:t>
            </a:r>
          </a:p>
          <a:p>
            <a:pPr>
              <a:spcAft>
                <a:spcPts val="900"/>
              </a:spcAft>
              <a:defRPr sz="2100" b="0">
                <a:solidFill>
                  <a:srgbClr val="BAF5D1"/>
                </a:solidFill>
                <a:latin typeface="Arial"/>
              </a:defRPr>
            </a:pPr>
            <a:r>
              <a:t>2024 · Participación nacional CCPC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46100" y="5067300"/>
            <a:ext cx="10922000" cy="9905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00" b="0">
                <a:solidFill>
                  <a:srgbClr val="D9C4FF"/>
                </a:solidFill>
                <a:latin typeface="Arial"/>
              </a:defRPr>
            </a:pPr>
            <a:r>
              <a:t>Cien puntos: ilustración redondeada.</a:t>
            </a:r>
          </a:p>
          <a:p>
            <a:pPr>
              <a:spcAft>
                <a:spcPts val="900"/>
              </a:spcAft>
              <a:defRPr sz="1900" b="0">
                <a:solidFill>
                  <a:srgbClr val="D9C4FF"/>
                </a:solidFill>
                <a:latin typeface="Arial"/>
              </a:defRPr>
            </a:pPr>
            <a:r>
              <a:t>Tasa: un decimal. Complemento: 40,3%.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46100" y="6108700"/>
            <a:ext cx="10922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C2C3CC"/>
                </a:solidFill>
                <a:latin typeface="Arial"/>
              </a:defRPr>
            </a:pPr>
            <a:r>
              <a:t>Fuente de datos: INE, Manual CCPC 2009–2024 · pp. 16, 17, 21 y 30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46100" y="6451600"/>
            <a:ext cx="101600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C2C3CC"/>
                </a:solidFill>
                <a:latin typeface="Arial"/>
              </a:defRPr>
            </a:pPr>
            <a:r>
              <a:t>Proyecto independiente · Sin aval del INE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883900" y="6451600"/>
            <a:ext cx="8890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C2C3CC"/>
                </a:solidFill>
                <a:latin typeface="Arial"/>
              </a:defRPr>
            </a:pPr>
            <a:r>
              <a:t>03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6100" y="749300"/>
            <a:ext cx="109855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D9C4FF"/>
                </a:solidFill>
                <a:latin typeface="Arial"/>
              </a:defRPr>
            </a:pPr>
            <a:r>
              <a:t>03 / LA HISTORIA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6100" y="1524000"/>
            <a:ext cx="108585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900" b="1">
                <a:solidFill>
                  <a:srgbClr val="F9F7F2"/>
                </a:solidFill>
                <a:latin typeface="Arial"/>
              </a:defRPr>
            </a:pPr>
            <a:r>
              <a:t>Observar → comparar → explorar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6100" y="3302000"/>
            <a:ext cx="10858500" cy="147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0">
                <a:solidFill>
                  <a:srgbClr val="BAF5D1"/>
                </a:solidFill>
                <a:latin typeface="Arial"/>
              </a:defRPr>
            </a:pPr>
            <a:r>
              <a:t>Aprender → imaginar → compartir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6100" y="5067300"/>
            <a:ext cx="10922000" cy="9905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00" b="0">
                <a:solidFill>
                  <a:srgbClr val="D9C4FF"/>
                </a:solidFill>
                <a:latin typeface="Arial"/>
              </a:defRPr>
            </a:pPr>
            <a:r>
              <a:t>Seis capítulos con datos, explicación y evidencia.</a:t>
            </a:r>
          </a:p>
          <a:p>
            <a:pPr>
              <a:spcAft>
                <a:spcPts val="900"/>
              </a:spcAft>
              <a:defRPr sz="1900" b="0">
                <a:solidFill>
                  <a:srgbClr val="D9C4FF"/>
                </a:solidFill>
                <a:latin typeface="Arial"/>
              </a:defRPr>
            </a:pPr>
            <a:r>
              <a:t>Recorrido rápido: pauta de 60 s. Jurado: 3 min.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6100" y="6108700"/>
            <a:ext cx="10922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C2C3CC"/>
                </a:solidFill>
                <a:latin typeface="Arial"/>
              </a:defRPr>
            </a:pPr>
            <a:r>
              <a:t>Fuente de datos: INE, Manual CCPC 2009–2024 · pp. 16, 17, 21 y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6100" y="6451600"/>
            <a:ext cx="101600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C2C3CC"/>
                </a:solidFill>
                <a:latin typeface="Arial"/>
              </a:defRPr>
            </a:pPr>
            <a:r>
              <a:t>Proyecto independiente · Sin aval del 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3900" y="6451600"/>
            <a:ext cx="8890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C2C3CC"/>
                </a:solidFill>
                <a:latin typeface="Arial"/>
              </a:defRPr>
            </a:pPr>
            <a:r>
              <a:t>04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6100" y="749300"/>
            <a:ext cx="109855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D9C4FF"/>
                </a:solidFill>
                <a:latin typeface="Arial"/>
              </a:defRPr>
            </a:pPr>
            <a:r>
              <a:t>04 / EL RIGOR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6100" y="1524000"/>
            <a:ext cx="108585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900" b="1">
                <a:solidFill>
                  <a:srgbClr val="F9F7F2"/>
                </a:solidFill>
                <a:latin typeface="Arial"/>
              </a:defRPr>
            </a:pPr>
            <a:r>
              <a:t>La fuente viaja con el dato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6100" y="3302000"/>
            <a:ext cx="10858500" cy="147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0">
                <a:solidFill>
                  <a:srgbClr val="BAF5D1"/>
                </a:solidFill>
                <a:latin typeface="Arial"/>
              </a:defRPr>
            </a:pPr>
            <a:r>
              <a:t>6 elecciones nacionales</a:t>
            </a:r>
          </a:p>
          <a:p>
            <a:pPr>
              <a:spcAft>
                <a:spcPts val="900"/>
              </a:spcAft>
              <a:defRPr sz="2800" b="0">
                <a:solidFill>
                  <a:srgbClr val="BAF5D1"/>
                </a:solidFill>
                <a:latin typeface="Arial"/>
              </a:defRPr>
            </a:pPr>
            <a:r>
              <a:t>8 entidades, selección demostrativa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6100" y="5067300"/>
            <a:ext cx="10922000" cy="9905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00" b="0">
                <a:solidFill>
                  <a:srgbClr val="D9C4FF"/>
                </a:solidFill>
                <a:latin typeface="Arial"/>
              </a:defRPr>
            </a:pPr>
            <a:r>
              <a:t>Sí votaron / (Sí votaron + No votaron) × 100.</a:t>
            </a:r>
          </a:p>
          <a:p>
            <a:pPr>
              <a:spcAft>
                <a:spcPts val="900"/>
              </a:spcAft>
              <a:defRPr sz="1900" b="0">
                <a:solidFill>
                  <a:srgbClr val="D9C4FF"/>
                </a:solidFill>
                <a:latin typeface="Arial"/>
              </a:defRPr>
            </a:pPr>
            <a:r>
              <a:t>Sin no especificados en el denominador.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6100" y="6108700"/>
            <a:ext cx="10922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C2C3CC"/>
                </a:solidFill>
                <a:latin typeface="Arial"/>
              </a:defRPr>
            </a:pPr>
            <a:r>
              <a:t>Fuente de datos: INE, Manual CCPC 2009–2024 · pp. 16, 17, 21 y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6100" y="6451600"/>
            <a:ext cx="101600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C2C3CC"/>
                </a:solidFill>
                <a:latin typeface="Arial"/>
              </a:defRPr>
            </a:pPr>
            <a:r>
              <a:t>Proyecto independiente · Sin aval del 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3900" y="6451600"/>
            <a:ext cx="8890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C2C3CC"/>
                </a:solidFill>
                <a:latin typeface="Arial"/>
              </a:defRPr>
            </a:pPr>
            <a:r>
              <a:t>05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6100" y="749300"/>
            <a:ext cx="109855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D9C4FF"/>
                </a:solidFill>
                <a:latin typeface="Arial"/>
              </a:defRPr>
            </a:pPr>
            <a:r>
              <a:t>05 / COMPARAR BIEN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6100" y="1524000"/>
            <a:ext cx="108585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900" b="1">
                <a:solidFill>
                  <a:srgbClr val="F9F7F2"/>
                </a:solidFill>
                <a:latin typeface="Arial"/>
              </a:defRPr>
            </a:pPr>
            <a:r>
              <a:t>−2,7 pp ≠ −2,7%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6100" y="3302000"/>
            <a:ext cx="10858500" cy="147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0">
                <a:solidFill>
                  <a:srgbClr val="BAF5D1"/>
                </a:solidFill>
                <a:latin typeface="Arial"/>
              </a:defRPr>
            </a:pPr>
            <a:r>
              <a:t>2018 62,4% → 2024 59,7%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6100" y="5067300"/>
            <a:ext cx="10922000" cy="9905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00" b="0">
                <a:solidFill>
                  <a:srgbClr val="D9C4FF"/>
                </a:solidFill>
                <a:latin typeface="Arial"/>
              </a:defRPr>
            </a:pPr>
            <a:r>
              <a:t>Presidenciales: −2,7 pp (≈ −4,3% relativo).</a:t>
            </a:r>
          </a:p>
          <a:p>
            <a:pPr>
              <a:spcAft>
                <a:spcPts val="900"/>
              </a:spcAft>
              <a:defRPr sz="1900" b="0">
                <a:solidFill>
                  <a:srgbClr val="D9C4FF"/>
                </a:solidFill>
                <a:latin typeface="Arial"/>
              </a:defRPr>
            </a:pPr>
            <a:r>
              <a:t>Intermedias 2015→2021: +4,7 pp.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6100" y="6108700"/>
            <a:ext cx="10922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C2C3CC"/>
                </a:solidFill>
                <a:latin typeface="Arial"/>
              </a:defRPr>
            </a:pPr>
            <a:r>
              <a:t>Fuente de datos: INE, Manual CCPC 2009–2024 · pp. 16, 17, 21 y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6100" y="6451600"/>
            <a:ext cx="101600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C2C3CC"/>
                </a:solidFill>
                <a:latin typeface="Arial"/>
              </a:defRPr>
            </a:pPr>
            <a:r>
              <a:t>Proyecto independiente · Sin aval del 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3900" y="6451600"/>
            <a:ext cx="8890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C2C3CC"/>
                </a:solidFill>
                <a:latin typeface="Arial"/>
              </a:defRPr>
            </a:pPr>
            <a:r>
              <a:t>06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6100" y="749300"/>
            <a:ext cx="109855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D9C4FF"/>
                </a:solidFill>
                <a:latin typeface="Arial"/>
              </a:defRPr>
            </a:pPr>
            <a:r>
              <a:t>06 / LA PRÁCTICA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6100" y="1524000"/>
            <a:ext cx="108585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900" b="1">
                <a:solidFill>
                  <a:srgbClr val="F9F7F2"/>
                </a:solidFill>
                <a:latin typeface="Arial"/>
              </a:defRPr>
            </a:pPr>
            <a:r>
              <a:t>Cinco preguntas, cinco explicaciones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6100" y="3302000"/>
            <a:ext cx="10858500" cy="147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0">
                <a:solidFill>
                  <a:srgbClr val="BAF5D1"/>
                </a:solidFill>
                <a:latin typeface="Arial"/>
              </a:defRPr>
            </a:pPr>
            <a:r>
              <a:t>Retroalimentación + cierre + reinicio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6100" y="5067300"/>
            <a:ext cx="10922000" cy="9905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00" b="0">
                <a:solidFill>
                  <a:srgbClr val="D9C4FF"/>
                </a:solidFill>
                <a:latin typeface="Arial"/>
              </a:defRPr>
            </a:pPr>
            <a:r>
              <a:t>Tasas · unidades · contexto · límites · gráficas.</a:t>
            </a:r>
          </a:p>
          <a:p>
            <a:pPr>
              <a:spcAft>
                <a:spcPts val="900"/>
              </a:spcAft>
              <a:defRPr sz="1900" b="0">
                <a:solidFill>
                  <a:srgbClr val="D9C4FF"/>
                </a:solidFill>
                <a:latin typeface="Arial"/>
              </a:defRPr>
            </a:pPr>
            <a:r>
              <a:t>Actividad de aula de 15 minutos.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6100" y="6108700"/>
            <a:ext cx="10922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C2C3CC"/>
                </a:solidFill>
                <a:latin typeface="Arial"/>
              </a:defRPr>
            </a:pPr>
            <a:r>
              <a:t>Fuente de datos: INE, Manual CCPC 2009–2024 · pp. 16, 17, 21 y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6100" y="6451600"/>
            <a:ext cx="101600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C2C3CC"/>
                </a:solidFill>
                <a:latin typeface="Arial"/>
              </a:defRPr>
            </a:pPr>
            <a:r>
              <a:t>Proyecto independiente · Sin aval del 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3900" y="6451600"/>
            <a:ext cx="8890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C2C3CC"/>
                </a:solidFill>
                <a:latin typeface="Arial"/>
              </a:defRPr>
            </a:pPr>
            <a:r>
              <a:t>07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6100" y="749300"/>
            <a:ext cx="109855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D9C4FF"/>
                </a:solidFill>
                <a:latin typeface="Arial"/>
              </a:defRPr>
            </a:pPr>
            <a:r>
              <a:t>07 / IMAGINAR Y COMPARTIR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6100" y="1524000"/>
            <a:ext cx="108585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900" b="1">
                <a:solidFill>
                  <a:srgbClr val="F9F7F2"/>
                </a:solidFill>
                <a:latin typeface="Arial"/>
              </a:defRPr>
            </a:pPr>
            <a:r>
              <a:t>Un escenario no es una predicción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6100" y="3302000"/>
            <a:ext cx="10858500" cy="147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0">
                <a:solidFill>
                  <a:srgbClr val="BAF5D1"/>
                </a:solidFill>
                <a:latin typeface="Arial"/>
              </a:defRPr>
            </a:pPr>
            <a:r>
              <a:t>59,7% observado → 64,7% hipotético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6100" y="5067300"/>
            <a:ext cx="10922000" cy="9905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00" b="0">
                <a:solidFill>
                  <a:srgbClr val="D9C4FF"/>
                </a:solidFill>
                <a:latin typeface="Arial"/>
              </a:defRPr>
            </a:pPr>
            <a:r>
              <a:t>+5,0 pp · ≈ +8,4% relativo.</a:t>
            </a:r>
          </a:p>
          <a:p>
            <a:pPr>
              <a:spcAft>
                <a:spcPts val="900"/>
              </a:spcAft>
              <a:defRPr sz="1900" b="0">
                <a:solidFill>
                  <a:srgbClr val="D9C4FF"/>
                </a:solidFill>
                <a:latin typeface="Arial"/>
              </a:defRPr>
            </a:pPr>
            <a:r>
              <a:t>Tarjetas PNG en tres tamaños + texto accesible.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6100" y="6108700"/>
            <a:ext cx="10922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C2C3CC"/>
                </a:solidFill>
                <a:latin typeface="Arial"/>
              </a:defRPr>
            </a:pPr>
            <a:r>
              <a:t>Fuente de datos: INE, Manual CCPC 2009–2024 · pp. 16, 17, 21 y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6100" y="6451600"/>
            <a:ext cx="101600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C2C3CC"/>
                </a:solidFill>
                <a:latin typeface="Arial"/>
              </a:defRPr>
            </a:pPr>
            <a:r>
              <a:t>Proyecto independiente · Sin aval del 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3900" y="6451600"/>
            <a:ext cx="8890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C2C3CC"/>
                </a:solidFill>
                <a:latin typeface="Arial"/>
              </a:defRPr>
            </a:pPr>
            <a:r>
              <a:t>08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6100" y="749300"/>
            <a:ext cx="109855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D9C4FF"/>
                </a:solidFill>
                <a:latin typeface="Arial"/>
              </a:defRPr>
            </a:pPr>
            <a:r>
              <a:t>08 / VIABILIDAD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6100" y="1524000"/>
            <a:ext cx="108585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900" b="1">
                <a:solidFill>
                  <a:srgbClr val="F9F7F2"/>
                </a:solidFill>
                <a:latin typeface="Arial"/>
              </a:defRPr>
            </a:pPr>
            <a:r>
              <a:t>Una herramienta que puede adaptarse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6100" y="3302000"/>
            <a:ext cx="10858500" cy="147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0">
                <a:solidFill>
                  <a:srgbClr val="BAF5D1"/>
                </a:solidFill>
                <a:latin typeface="Arial"/>
              </a:defRPr>
            </a:pPr>
            <a:r>
              <a:t>Web estática y versión local</a:t>
            </a:r>
          </a:p>
          <a:p>
            <a:pPr>
              <a:spcAft>
                <a:spcPts val="900"/>
              </a:spcAft>
              <a:defRPr sz="2800" b="0">
                <a:solidFill>
                  <a:srgbClr val="BAF5D1"/>
                </a:solidFill>
                <a:latin typeface="Arial"/>
              </a:defRPr>
            </a:pPr>
            <a:r>
              <a:t>Datos agregados, sin registro de personas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6100" y="5067300"/>
            <a:ext cx="10922000" cy="9905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00" b="0">
                <a:solidFill>
                  <a:srgbClr val="D9C4FF"/>
                </a:solidFill>
                <a:latin typeface="Arial"/>
              </a:defRPr>
            </a:pPr>
            <a:r>
              <a:t>Aula · comunidad · redes.</a:t>
            </a:r>
          </a:p>
          <a:p>
            <a:pPr>
              <a:spcAft>
                <a:spcPts val="900"/>
              </a:spcAft>
              <a:defRPr sz="1900" b="0">
                <a:solidFill>
                  <a:srgbClr val="D9C4FF"/>
                </a:solidFill>
                <a:latin typeface="Arial"/>
              </a:defRPr>
            </a:pPr>
            <a:r>
              <a:t>Adopción institucional sujeta a revisión.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6100" y="6108700"/>
            <a:ext cx="10922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C2C3CC"/>
                </a:solidFill>
                <a:latin typeface="Arial"/>
              </a:defRPr>
            </a:pPr>
            <a:r>
              <a:t>Fuente de datos: INE, Manual CCPC 2009–2024 · pp. 16, 17, 21 y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6100" y="6451600"/>
            <a:ext cx="101600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C2C3CC"/>
                </a:solidFill>
                <a:latin typeface="Arial"/>
              </a:defRPr>
            </a:pPr>
            <a:r>
              <a:t>Proyecto independiente · Sin aval del 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3900" y="6451600"/>
            <a:ext cx="8890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C2C3CC"/>
                </a:solidFill>
                <a:latin typeface="Arial"/>
              </a:defRPr>
            </a:pPr>
            <a:r>
              <a:t>09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EE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6100" y="749300"/>
            <a:ext cx="109855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D9C4FF"/>
                </a:solidFill>
                <a:latin typeface="Arial"/>
              </a:defRPr>
            </a:pPr>
            <a:r>
              <a:t>09 / LA INVITACIÓN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6100" y="1524000"/>
            <a:ext cx="108585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900" b="1">
                <a:solidFill>
                  <a:srgbClr val="F9F7F2"/>
                </a:solidFill>
                <a:latin typeface="Arial"/>
              </a:defRPr>
            </a:pPr>
            <a:r>
              <a:t>Los datos ya hablan.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6100" y="3302000"/>
            <a:ext cx="10858500" cy="147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0">
                <a:solidFill>
                  <a:srgbClr val="BAF5D1"/>
                </a:solidFill>
                <a:latin typeface="Arial"/>
              </a:defRPr>
            </a:pPr>
            <a:r>
              <a:t>Hagamos que se entiendan.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6100" y="5067300"/>
            <a:ext cx="10922000" cy="9905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00" b="0">
                <a:solidFill>
                  <a:srgbClr val="D9C4FF"/>
                </a:solidFill>
                <a:latin typeface="Arial"/>
              </a:defRPr>
            </a:pPr>
            <a:r>
              <a:t>Observar una cifra. Reconocer sus límites.</a:t>
            </a:r>
          </a:p>
          <a:p>
            <a:pPr>
              <a:spcAft>
                <a:spcPts val="900"/>
              </a:spcAft>
              <a:defRPr sz="1900" b="0">
                <a:solidFill>
                  <a:srgbClr val="D9C4FF"/>
                </a:solidFill>
                <a:latin typeface="Arial"/>
              </a:defRPr>
            </a:pPr>
            <a:r>
              <a:t>Compartir una explicación con fuente.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6100" y="6108700"/>
            <a:ext cx="10922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C2C3CC"/>
                </a:solidFill>
                <a:latin typeface="Arial"/>
              </a:defRPr>
            </a:pPr>
            <a:r>
              <a:t>Fuente de datos: INE, Manual CCPC 2009–2024 · pp. 16, 17, 21 y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6100" y="6451600"/>
            <a:ext cx="101600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C2C3CC"/>
                </a:solidFill>
                <a:latin typeface="Arial"/>
              </a:defRPr>
            </a:pPr>
            <a:r>
              <a:t>Proyecto independiente · Sin aval del 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3900" y="6451600"/>
            <a:ext cx="8890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C2C3CC"/>
                </a:solidFill>
                <a:latin typeface="Arial"/>
              </a:defRPr>
            </a:pPr>
            <a: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